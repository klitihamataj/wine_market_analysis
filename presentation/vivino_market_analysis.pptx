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50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6D2E46">
              <a:alpha val="40000"/>
            </a:srgbClr>
          </a:solidFill>
          <a:ln w="12700">
            <a:solidFill>
              <a:srgbClr val="6D2E46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VIVINO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Analysis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0116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5176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wine market analysis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Wiwinio — uncovering insights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wines, countries &amp; wineries.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BeCode Data Science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Wines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463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wines to highlight for increased sales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30552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130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Country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359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our marketing budget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26664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0266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Winery Awards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2552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the best producers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922776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9227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Taste Cluster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41513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Wines matching our customers' preferred taste profile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234440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Grape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463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grapes &amp; best wines per variety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130552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139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2130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Leaderboards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3591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&amp; vintage rankings by average rating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026664"/>
            <a:ext cx="41148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49240" y="302666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vs Rating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32552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price predict quality?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Wines to Highlight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1,000 ratings — ranked by average rating, then by popularity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7132320" cy="3474724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Wine Name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 Rating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 Ratings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Cabernet Sauvignon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États-Unis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Sauternes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44,126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Selection Cabernet Sauvignon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États-Unis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41,236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Pomerol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32,157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24,356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Toscana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Unico Reserva Especial Edición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Mesnil Blanc de Blancs Brut Champagne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Amarone della Valpolicella Classico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Country for Marketing Budget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474720"/>
          </a:xfrm>
          <a:prstGeom prst="rect">
            <a:avLst/>
          </a:prstGeom>
          <a:solidFill>
            <a:srgbClr val="6D2E4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RECOMMENDED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States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566160" cy="566928"/>
          </a:xfrm>
          <a:prstGeom prst="rect">
            <a:avLst/>
          </a:prstGeom>
          <a:solidFill>
            <a:srgbClr val="3D1020"/>
          </a:solidFill>
          <a:ln w="12700">
            <a:solidFill>
              <a:srgbClr val="3D1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12.3M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1168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81528"/>
            <a:ext cx="3566160" cy="566928"/>
          </a:xfrm>
          <a:prstGeom prst="rect">
            <a:avLst/>
          </a:prstGeom>
          <a:solidFill>
            <a:srgbClr val="3D1020"/>
          </a:solidFill>
          <a:ln w="12700">
            <a:solidFill>
              <a:srgbClr val="3D1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27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Wines Available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39896"/>
            <a:ext cx="3566160" cy="566928"/>
          </a:xfrm>
          <a:prstGeom prst="rect">
            <a:avLst/>
          </a:prstGeom>
          <a:solidFill>
            <a:srgbClr val="3D1020"/>
          </a:solidFill>
          <a:ln w="12700">
            <a:solidFill>
              <a:srgbClr val="3D1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856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38770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11430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Countries by Avg Rating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554480"/>
            <a:ext cx="4206240" cy="530352"/>
          </a:xfrm>
          <a:prstGeom prst="rect">
            <a:avLst/>
          </a:prstGeom>
          <a:solidFill>
            <a:srgbClr val="3D1A2A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Allemagne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1828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2.5M users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80" y="16642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4.50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2176272"/>
            <a:ext cx="4206240" cy="530352"/>
          </a:xfrm>
          <a:prstGeom prst="rect">
            <a:avLst/>
          </a:prstGeom>
          <a:solidFill>
            <a:srgbClr val="3D1A2A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2221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Israël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2450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 users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55280" y="22860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4.50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0" y="2798064"/>
            <a:ext cx="4206240" cy="530352"/>
          </a:xfrm>
          <a:prstGeom prst="rect">
            <a:avLst/>
          </a:prstGeom>
          <a:solidFill>
            <a:srgbClr val="6D2E46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2843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États-Unis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74920" y="30723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12.3M users 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55280" y="29077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4.49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0" y="3419856"/>
            <a:ext cx="4206240" cy="530352"/>
          </a:xfrm>
          <a:prstGeom prst="rect">
            <a:avLst/>
          </a:prstGeom>
          <a:solidFill>
            <a:srgbClr val="3D1A2A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74920" y="3465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74920" y="36941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5.9M users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955280" y="352958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4.45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0" y="4041648"/>
            <a:ext cx="4206240" cy="530352"/>
          </a:xfrm>
          <a:prstGeom prst="rect">
            <a:avLst/>
          </a:prstGeom>
          <a:solidFill>
            <a:srgbClr val="3D1A2A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74920" y="4087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Australie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74920" y="4315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users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955280" y="415137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4.46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Germany leads in avg rating, the US offers 5× more users — making it the strongest market for maximum reach.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Winery Awards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data quality issues with the wineries table, winery names were identified manually via vintage names.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7432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🥇 Best Overall Winery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Krug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Rating: 4.64  •  5 wines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2286000" cy="27432"/>
          </a:xfrm>
          <a:prstGeom prst="rect">
            <a:avLst/>
          </a:prstGeom>
          <a:solidFill>
            <a:srgbClr val="E0D5C8"/>
          </a:solidFill>
          <a:ln w="12700">
            <a:solidFill>
              <a:srgbClr val="E0D5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632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rating among wineries with 5+ wines. A legendary Champagne house from France.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solidFill>
            <a:srgbClr val="5A7A3A"/>
          </a:solidFill>
          <a:ln w="12700">
            <a:solidFill>
              <a:srgbClr val="5A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Most International Winery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Domaine Faiveley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regions  •  Burgundy, France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971800"/>
            <a:ext cx="2286000" cy="27432"/>
          </a:xfrm>
          <a:prstGeom prst="rect">
            <a:avLst/>
          </a:prstGeom>
          <a:solidFill>
            <a:srgbClr val="E0D5C8"/>
          </a:solidFill>
          <a:ln w="12700">
            <a:solidFill>
              <a:srgbClr val="E0D5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0632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Wines present across the most regions worldwide. Iconic Burgundy producer spanning 10 appellations.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417320"/>
            <a:ext cx="2743200" cy="502920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🍇 Most Diverse Winery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Gaja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1792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different wines  •  Italy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286000" cy="27432"/>
          </a:xfrm>
          <a:prstGeom prst="rect">
            <a:avLst/>
          </a:prstGeom>
          <a:solidFill>
            <a:srgbClr val="E0D5C8"/>
          </a:solidFill>
          <a:ln w="12700">
            <a:solidFill>
              <a:srgbClr val="E0D5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0632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wine portfolio in the database. Legendary Piedmontese producer known for Barbaresco.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D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Taste Cluster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Keywords (CASE SENSITIVE, confirmed by &gt;10 users):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6D2E4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898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13716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6D2E4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3898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toast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3716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6D2E4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3898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apple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13716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6D2E4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13898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13716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6D2E4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3898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citrus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8412480" cy="548640"/>
          </a:xfrm>
          <a:prstGeom prst="rect">
            <a:avLst/>
          </a:prstGeom>
          <a:solidFill>
            <a:srgbClr val="6D2E4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9933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Key Insight: This taste cluster maps almost exclusively to premium Champagne wines (group: non_oak)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Matching Wines (17 total — top 10 shown):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Grande Année Brut Champagne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Cristal Brut Champagne (Millésimé)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Belle Epoque Brut Champagne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Grande Dame Brut Champagne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Comtes de Champagne Blanc de Blancs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880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 Ruinart Blanc de Blancs Brut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291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Sir Winston Churchill Brut Champagne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703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Blanc des Millénaires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114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Cuvée des Enchanteleurs Brut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526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Trebbiano d'Abruzzo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3 Most Common Grapes Worldwide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Cabernet Sauvignon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7772400" cy="320040"/>
          </a:xfrm>
          <a:prstGeom prst="rect">
            <a:avLst/>
          </a:prstGeom>
          <a:solidFill>
            <a:srgbClr val="E0D5C8"/>
          </a:solidFill>
          <a:ln w="12700">
            <a:solidFill>
              <a:srgbClr val="E0D5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72768"/>
            <a:ext cx="7772400" cy="320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9.6M wines   ★ avg 4.66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Merlot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24328"/>
            <a:ext cx="7772400" cy="320040"/>
          </a:xfrm>
          <a:prstGeom prst="rect">
            <a:avLst/>
          </a:prstGeom>
          <a:solidFill>
            <a:srgbClr val="E0D5C8"/>
          </a:solidFill>
          <a:ln w="12700">
            <a:solidFill>
              <a:srgbClr val="E0D5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624328"/>
            <a:ext cx="5029200" cy="32004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6.2M wines   ★ avg 4.37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Chardonnay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7772400" cy="320040"/>
          </a:xfrm>
          <a:prstGeom prst="rect">
            <a:avLst/>
          </a:prstGeom>
          <a:solidFill>
            <a:srgbClr val="E0D5C8"/>
          </a:solidFill>
          <a:ln w="12700">
            <a:solidFill>
              <a:srgbClr val="E0D5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75888"/>
            <a:ext cx="2926080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3.6M wines   ★ avg 4.45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343400"/>
            <a:ext cx="8595360" cy="27432"/>
          </a:xfrm>
          <a:prstGeom prst="rect">
            <a:avLst/>
          </a:prstGeom>
          <a:solidFill>
            <a:srgbClr val="E0D5C8"/>
          </a:solidFill>
          <a:ln w="12700">
            <a:solidFill>
              <a:srgbClr val="E0D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Recommendation: Prioritise Cabernet Sauvignon — it leads in both volume (9.6M wines) and quality (avg 4.66). Merlot's lower rating (4.37) despite strong volume presents an opportunity to surface better producers.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 &amp; Vintage Leaderboards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Top 10 Countries by Avg Rating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228600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81328"/>
            <a:ext cx="152400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5087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Allemagne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5087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228600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10512"/>
            <a:ext cx="1524000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8379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Israël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8379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4.50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228600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39696"/>
            <a:ext cx="1371600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167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États-Unis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21671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4.49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228600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68880"/>
            <a:ext cx="1219200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4963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Moldavie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496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4.48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798064"/>
            <a:ext cx="228600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798064"/>
            <a:ext cx="1066800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28254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Hongrie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28254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4.47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27248"/>
            <a:ext cx="228600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127248"/>
            <a:ext cx="914400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3154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31546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4.46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56432"/>
            <a:ext cx="228600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456432"/>
            <a:ext cx="914400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34838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Afrique du Sud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0" y="348386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4.46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785616"/>
            <a:ext cx="228600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785616"/>
            <a:ext cx="762000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8130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0" y="3813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4.45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114800"/>
            <a:ext cx="228600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114800"/>
            <a:ext cx="609600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4142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40480" y="4142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4.44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443984"/>
            <a:ext cx="2286000" cy="256032"/>
          </a:xfrm>
          <a:prstGeom prst="rect">
            <a:avLst/>
          </a:prstGeom>
          <a:solidFill>
            <a:srgbClr val="EDE6DC"/>
          </a:solidFill>
          <a:ln w="12700">
            <a:solidFill>
              <a:srgbClr val="EDE6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443984"/>
            <a:ext cx="609600" cy="25603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0" y="44714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Espagne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40480" y="44714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4.44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109728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1170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Vintage Ratings — Key Insights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754880" y="1554480"/>
            <a:ext cx="4572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1929, 1962, 1964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92040" y="17647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rated years (4.70)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2167128"/>
            <a:ext cx="4572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21671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1910–1980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9204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avg ratings — older vintages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more selectively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754880" y="2779776"/>
            <a:ext cx="4572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27797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1980–2010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92040" y="2990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plateau around 4.50–4.58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3392424"/>
            <a:ext cx="4572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3924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2010–2022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92040" y="36027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decline — recent vintages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time to be rated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54880" y="4005072"/>
            <a:ext cx="4572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4005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892040" y="4215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dip (4.20) — poor harvest year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vs Rating Correlation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spending more guarantee a better wine?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657600" cy="3291840"/>
          </a:xfrm>
          <a:prstGeom prst="rect">
            <a:avLst/>
          </a:prstGeom>
          <a:solidFill>
            <a:srgbClr val="6D2E4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price &amp; rating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4389120" cy="685800"/>
          </a:xfrm>
          <a:prstGeom prst="rect">
            <a:avLst/>
          </a:prstGeom>
          <a:solidFill>
            <a:srgbClr val="3D1020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2,050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18470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wines analysed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267712"/>
            <a:ext cx="4389120" cy="685800"/>
          </a:xfrm>
          <a:prstGeom prst="rect">
            <a:avLst/>
          </a:prstGeom>
          <a:solidFill>
            <a:srgbClr val="3D1020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313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€13 – €12,886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2651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3072384"/>
            <a:ext cx="4389120" cy="685800"/>
          </a:xfrm>
          <a:prstGeom prst="rect">
            <a:avLst/>
          </a:prstGeom>
          <a:solidFill>
            <a:srgbClr val="3D1020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1181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4.7+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3456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ratings found at ALL price points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3931920"/>
            <a:ext cx="4389120" cy="822960"/>
          </a:xfrm>
          <a:prstGeom prst="rect">
            <a:avLst/>
          </a:prstGeom>
          <a:solidFill>
            <a:srgbClr val="6D2E46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39776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Business Insight: Vivino can promote affordable high-quality wines to price-conscious customers — increasing platform engagement among budget wine lovers.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Prices above €500 excluded from scatter plot for readability (max in dataset: €12,886)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6D2E46">
              <a:alpha val="30000"/>
            </a:srgbClr>
          </a:solidFill>
          <a:ln w="12700">
            <a:solidFill>
              <a:srgbClr val="6D2E4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🍷  Top Wine: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14600" y="10972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Cabernet Sauvignon leads in both rating (4.8) and popularity (157K+ ratings)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8229600" cy="9144"/>
          </a:xfrm>
          <a:prstGeom prst="rect">
            <a:avLst/>
          </a:prstGeom>
          <a:solidFill>
            <a:srgbClr val="5A2A3A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🌍  Best Market: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7373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— 12.3M users, largest addressable audience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8229600" cy="9144"/>
          </a:xfrm>
          <a:prstGeom prst="rect">
            <a:avLst/>
          </a:prstGeom>
          <a:solidFill>
            <a:srgbClr val="5A2A3A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Best Winery: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23774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Krug (highest avg rating 4.64 among established producers)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8229600" cy="9144"/>
          </a:xfrm>
          <a:prstGeom prst="rect">
            <a:avLst/>
          </a:prstGeom>
          <a:solidFill>
            <a:srgbClr val="5A2A3A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🍾  Taste Cluster: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3017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+ cream + citrus + toast + green apple = Premium Champagne lovers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8229600" cy="9144"/>
          </a:xfrm>
          <a:prstGeom prst="rect">
            <a:avLst/>
          </a:prstGeom>
          <a:solidFill>
            <a:srgbClr val="5A2A3A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🍇  Top Grape: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36576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Cabernet Sauvignon dominates with 9.6M wines globally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8229600" cy="9144"/>
          </a:xfrm>
          <a:prstGeom prst="rect">
            <a:avLst/>
          </a:prstGeom>
          <a:solidFill>
            <a:srgbClr val="5A2A3A"/>
          </a:solidFill>
          <a:ln w="12700">
            <a:solidFill>
              <a:srgbClr val="5A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Price Insight: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42976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≠ quality — great wines exist at every price point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Vivino Market Analysis  •  </a:t>
            </a:r>
            <a:r>
              <a:rPr lang="en-US" sz="1000" dirty="0" err="1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BeCode</a:t>
            </a:r>
            <a:r>
              <a:rPr lang="en-US" sz="1000" dirty="0">
                <a:solidFill>
                  <a:srgbClr val="7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Microsoft Office PowerPoint</Application>
  <PresentationFormat>On-screen Show (16:9)</PresentationFormat>
  <Paragraphs>229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Vivino Market Analysis</dc:title>
  <dc:subject>PptxGenJS Presentation</dc:subject>
  <dc:creator>PptxGenJS</dc:creator>
  <cp:lastModifiedBy>Kliti Hamataj</cp:lastModifiedBy>
  <cp:revision>2</cp:revision>
  <dcterms:created xsi:type="dcterms:W3CDTF">2026-04-03T08:19:08Z</dcterms:created>
  <dcterms:modified xsi:type="dcterms:W3CDTF">2026-04-03T08:25:31Z</dcterms:modified>
</cp:coreProperties>
</file>